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C5A0"/>
    <a:srgbClr val="0000A4"/>
    <a:srgbClr val="6797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40880" y="1005840"/>
            <a:ext cx="4572000" cy="4846320"/>
          </a:xfrm>
          <a:prstGeom prst="roundRect">
            <a:avLst>
              <a:gd name="adj" fmla="val 6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0" y="13716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FFE500"/>
                </a:solidFill>
                <a:latin typeface="Open Sans"/>
              </a:rPr>
              <a:t>REAL PRODUCT,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874519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Open Sans"/>
              </a:rPr>
              <a:t>Nano Phone Speaker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9EBDF4"/>
                </a:solidFill>
                <a:latin typeface="Open Sans"/>
              </a:rPr>
              <a:t>Cradle to Cradle certified.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9EBDF4"/>
                </a:solidFill>
                <a:latin typeface="Open Sans"/>
              </a:rPr>
              <a:t>Shipped in plastic, from Japan.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9EBDF4"/>
                </a:solidFill>
                <a:latin typeface="Open Sans"/>
              </a:rPr>
              <a:t>168 kg of CO2 to make.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FFE500"/>
                </a:solidFill>
                <a:latin typeface="Open Sans"/>
              </a:rPr>
              <a:t>Our verdict: 2 leaves, badge withheld.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8640" cy="146304"/>
          </a:xfrm>
          <a:prstGeom prst="roundRect">
            <a:avLst>
              <a:gd name="adj" fmla="val 40000"/>
            </a:avLst>
          </a:prstGeom>
          <a:solidFill>
            <a:srgbClr val="FF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FFE500"/>
                </a:solidFill>
                <a:latin typeface="Open Sans"/>
              </a:rPr>
              <a:t>HACK4HER × BOL · TRACK 2: THE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39211"/>
            <a:ext cx="5246023" cy="1612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200" b="1" dirty="0">
                <a:solidFill>
                  <a:srgbClr val="FFFFFF"/>
                </a:solidFill>
                <a:latin typeface="Open Sans"/>
              </a:rPr>
              <a:t>The Honest Price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6217920" cy="1120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dirty="0">
                <a:solidFill>
                  <a:srgbClr val="0000A4"/>
                </a:solidFill>
                <a:latin typeface="Open Sans"/>
              </a:rPr>
              <a:t>We score how sustainable a product really is, show it in one glance, and quietly flag the sellers whose green claims do not hold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6400800" cy="2789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 dirty="0">
                <a:solidFill>
                  <a:srgbClr val="9EBDF4"/>
                </a:solidFill>
                <a:latin typeface="Open Sans"/>
              </a:rPr>
              <a:t>Team </a:t>
            </a:r>
            <a:r>
              <a:rPr lang="en-IN" sz="1200" dirty="0" err="1">
                <a:solidFill>
                  <a:srgbClr val="9EBDF4"/>
                </a:solidFill>
                <a:latin typeface="Open Sans"/>
              </a:rPr>
              <a:t>Ctrl+V</a:t>
            </a:r>
            <a:r>
              <a:rPr sz="1200" b="0" dirty="0">
                <a:solidFill>
                  <a:srgbClr val="9EBDF4"/>
                </a:solidFill>
                <a:latin typeface="Open Sans"/>
              </a:rPr>
              <a:t>·  </a:t>
            </a:r>
            <a:r>
              <a:rPr sz="1200" b="0" dirty="0" err="1">
                <a:solidFill>
                  <a:srgbClr val="9EBDF4"/>
                </a:solidFill>
                <a:latin typeface="Open Sans"/>
              </a:rPr>
              <a:t>bol</a:t>
            </a:r>
            <a:r>
              <a:rPr sz="1200" b="0" dirty="0">
                <a:solidFill>
                  <a:srgbClr val="9EBDF4"/>
                </a:solidFill>
                <a:latin typeface="Open Sans"/>
              </a:rPr>
              <a:t>-com-</a:t>
            </a:r>
            <a:r>
              <a:rPr sz="1200" b="0" dirty="0" err="1">
                <a:solidFill>
                  <a:srgbClr val="9EBDF4"/>
                </a:solidFill>
                <a:latin typeface="Open Sans"/>
              </a:rPr>
              <a:t>solution.vercel.app</a:t>
            </a:r>
            <a:endParaRPr sz="1200" b="0" dirty="0">
              <a:solidFill>
                <a:srgbClr val="9EBDF4"/>
              </a:solidFill>
              <a:latin typeface="Open San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81E454-1B7B-5667-38D0-647C4E06E59E}"/>
              </a:ext>
            </a:extLst>
          </p:cNvPr>
          <p:cNvGrpSpPr/>
          <p:nvPr/>
        </p:nvGrpSpPr>
        <p:grpSpPr>
          <a:xfrm>
            <a:off x="6945978" y="302820"/>
            <a:ext cx="4974859" cy="6097980"/>
            <a:chOff x="0" y="0"/>
            <a:chExt cx="9179306" cy="13208000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3ED95990-E23F-ECFC-3E5E-61BFB9A024D3}"/>
                </a:ext>
              </a:extLst>
            </p:cNvPr>
            <p:cNvSpPr/>
            <p:nvPr/>
          </p:nvSpPr>
          <p:spPr>
            <a:xfrm>
              <a:off x="0" y="0"/>
              <a:ext cx="9179306" cy="13208000"/>
            </a:xfrm>
            <a:custGeom>
              <a:avLst/>
              <a:gdLst/>
              <a:ahLst/>
              <a:cxnLst/>
              <a:rect l="l" t="t" r="r" b="b"/>
              <a:pathLst>
                <a:path w="9179306" h="13208000">
                  <a:moveTo>
                    <a:pt x="727329" y="0"/>
                  </a:moveTo>
                  <a:cubicBezTo>
                    <a:pt x="325501" y="508"/>
                    <a:pt x="0" y="326263"/>
                    <a:pt x="0" y="728091"/>
                  </a:cubicBezTo>
                  <a:lnTo>
                    <a:pt x="0" y="12479909"/>
                  </a:lnTo>
                  <a:cubicBezTo>
                    <a:pt x="0" y="12881991"/>
                    <a:pt x="326009" y="13208000"/>
                    <a:pt x="728091" y="13208000"/>
                  </a:cubicBezTo>
                  <a:lnTo>
                    <a:pt x="8451215" y="13208000"/>
                  </a:lnTo>
                  <a:cubicBezTo>
                    <a:pt x="8853297" y="13208000"/>
                    <a:pt x="9179306" y="12881991"/>
                    <a:pt x="9179306" y="12479909"/>
                  </a:cubicBezTo>
                  <a:lnTo>
                    <a:pt x="9179306" y="728091"/>
                  </a:lnTo>
                  <a:cubicBezTo>
                    <a:pt x="9179306" y="326263"/>
                    <a:pt x="8853805" y="381"/>
                    <a:pt x="8451977" y="0"/>
                  </a:cubicBezTo>
                  <a:close/>
                </a:path>
              </a:pathLst>
            </a:custGeom>
            <a:blipFill>
              <a:blip r:embed="rId2"/>
              <a:stretch>
                <a:fillRect l="-209" r="-203" b="-14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1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126B47"/>
                </a:solidFill>
                <a:latin typeface="Open San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5091"/>
            <a:ext cx="65836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dirty="0">
                <a:solidFill>
                  <a:srgbClr val="0000A4"/>
                </a:solidFill>
                <a:latin typeface="Open Sans"/>
              </a:rPr>
              <a:t>People want to shop </a:t>
            </a:r>
            <a:r>
              <a:rPr sz="3200" b="1" dirty="0">
                <a:solidFill>
                  <a:srgbClr val="00B050"/>
                </a:solidFill>
                <a:latin typeface="Open Sans"/>
              </a:rPr>
              <a:t>greener</a:t>
            </a:r>
            <a:r>
              <a:rPr sz="3200" b="1" dirty="0">
                <a:solidFill>
                  <a:srgbClr val="0000A4"/>
                </a:solidFill>
                <a:latin typeface="Open Sans"/>
              </a:rPr>
              <a:t>. The shop makes it hard.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417319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5087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126B47"/>
                </a:solidFill>
                <a:latin typeface="Open Sans"/>
              </a:rPr>
              <a:t>img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22411"/>
            <a:ext cx="6302587" cy="2021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100" b="1" dirty="0">
                <a:solidFill>
                  <a:srgbClr val="0000A4"/>
                </a:solidFill>
                <a:latin typeface="Open Sans"/>
              </a:rPr>
              <a:t>Sustainability information is </a:t>
            </a:r>
            <a:r>
              <a:rPr lang="en-IN" sz="2100" b="1" dirty="0">
                <a:solidFill>
                  <a:srgbClr val="0000A4"/>
                </a:solidFill>
                <a:latin typeface="Open Sans"/>
              </a:rPr>
              <a:t>usually vague, unverifiable </a:t>
            </a:r>
            <a:r>
              <a:rPr sz="2100" b="1" dirty="0">
                <a:solidFill>
                  <a:srgbClr val="0000A4"/>
                </a:solidFill>
                <a:latin typeface="Open Sans"/>
              </a:rPr>
              <a:t>jargon, or simply not there.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dirty="0">
                <a:solidFill>
                  <a:srgbClr val="126B47"/>
                </a:solidFill>
                <a:latin typeface="Open Sans"/>
              </a:rPr>
              <a:t>So a shopper who cares ends up doing the easy thing: the cheapest item with the fastest delivery. The good intention is there</a:t>
            </a:r>
            <a:r>
              <a:rPr lang="en-IN" dirty="0">
                <a:solidFill>
                  <a:srgbClr val="126B47"/>
                </a:solidFill>
                <a:latin typeface="Open Sans"/>
              </a:rPr>
              <a:t> but t</a:t>
            </a:r>
            <a:r>
              <a:rPr sz="1800" b="0" dirty="0">
                <a:solidFill>
                  <a:srgbClr val="126B47"/>
                </a:solidFill>
                <a:latin typeface="Open Sans"/>
              </a:rPr>
              <a:t>he information to act on it is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2</a:t>
            </a:r>
          </a:p>
        </p:txBody>
      </p:sp>
      <p:sp>
        <p:nvSpPr>
          <p:cNvPr id="14" name="Freeform 20">
            <a:extLst>
              <a:ext uri="{FF2B5EF4-FFF2-40B4-BE49-F238E27FC236}">
                <a16:creationId xmlns:a16="http://schemas.microsoft.com/office/drawing/2014/main" id="{43E3E0F5-B0BE-FEC9-F6FA-8D937929CC00}"/>
              </a:ext>
            </a:extLst>
          </p:cNvPr>
          <p:cNvSpPr/>
          <p:nvPr/>
        </p:nvSpPr>
        <p:spPr>
          <a:xfrm>
            <a:off x="6790268" y="969264"/>
            <a:ext cx="5147732" cy="5278729"/>
          </a:xfrm>
          <a:custGeom>
            <a:avLst/>
            <a:gdLst/>
            <a:ahLst/>
            <a:cxnLst/>
            <a:rect l="l" t="t" r="r" b="b"/>
            <a:pathLst>
              <a:path w="21336000" h="12615291">
                <a:moveTo>
                  <a:pt x="677291" y="0"/>
                </a:moveTo>
                <a:cubicBezTo>
                  <a:pt x="303276" y="0"/>
                  <a:pt x="0" y="303276"/>
                  <a:pt x="0" y="677291"/>
                </a:cubicBezTo>
                <a:lnTo>
                  <a:pt x="0" y="11938000"/>
                </a:lnTo>
                <a:cubicBezTo>
                  <a:pt x="0" y="12312015"/>
                  <a:pt x="303276" y="12615291"/>
                  <a:pt x="677291" y="12615291"/>
                </a:cubicBezTo>
                <a:lnTo>
                  <a:pt x="20658710" y="12615291"/>
                </a:lnTo>
                <a:cubicBezTo>
                  <a:pt x="21032851" y="12615291"/>
                  <a:pt x="21336000" y="12312015"/>
                  <a:pt x="21336000" y="11938000"/>
                </a:cubicBezTo>
                <a:lnTo>
                  <a:pt x="21336000" y="677291"/>
                </a:lnTo>
                <a:cubicBezTo>
                  <a:pt x="21336000" y="303276"/>
                  <a:pt x="21032724" y="0"/>
                  <a:pt x="20658710" y="0"/>
                </a:cubicBezTo>
                <a:close/>
              </a:path>
            </a:pathLst>
          </a:custGeom>
          <a:blipFill>
            <a:blip r:embed="rId2"/>
            <a:stretch>
              <a:fillRect l="-143" t="-136" r="-71133" b="-159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48640" cy="146304"/>
          </a:xfrm>
          <a:prstGeom prst="roundRect">
            <a:avLst>
              <a:gd name="adj" fmla="val 40000"/>
            </a:avLst>
          </a:prstGeom>
          <a:solidFill>
            <a:srgbClr val="FF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FFE500"/>
                </a:solidFill>
                <a:latin typeface="Open Sans"/>
              </a:rPr>
              <a:t>BOL'S OWN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Open Sans"/>
              </a:rPr>
              <a:t>“de winkel van ons allemaal”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0">
                <a:solidFill>
                  <a:srgbClr val="9EBDF4"/>
                </a:solidFill>
                <a:latin typeface="Open Sans"/>
              </a:rPr>
              <a:t>the shop that belongs to all of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FFFFF"/>
                </a:solidFill>
                <a:latin typeface="Open Sans"/>
              </a:rPr>
              <a:t>Bol says it wants gemak, betaalbaarheid en duurzaamheid, convenience, affordability and sustainability, to go together.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9EBDF4"/>
                </a:solidFill>
                <a:latin typeface="Open Sans"/>
              </a:rPr>
              <a:t>Right now shoppers feel they have to pick. Our layer is built to put all three on the same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9EBDF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9EBDF4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B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0000A4"/>
                </a:solidFill>
                <a:latin typeface="Open Sans"/>
              </a:rPr>
              <a:t>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6583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A thin sustainability layer inside the shop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667512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000A4"/>
                </a:solidFill>
                <a:latin typeface="Open Sans"/>
              </a:rPr>
              <a:t>One score, as leaves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3291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Right next to the price.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18688"/>
            <a:ext cx="667512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000A4"/>
                </a:solidFill>
                <a:latin typeface="Open Sans"/>
              </a:rPr>
              <a:t>A reason you can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10128"/>
            <a:ext cx="3291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Plain language, never a black 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51376"/>
            <a:ext cx="667512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000A4"/>
                </a:solidFill>
                <a:latin typeface="Open Sans"/>
              </a:rPr>
              <a:t>A greener alternative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42816"/>
            <a:ext cx="3291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In the same category, usually cheaper.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84064"/>
            <a:ext cx="667512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000A4"/>
                </a:solidFill>
                <a:latin typeface="Open Sans"/>
              </a:rPr>
              <a:t>A check on the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75504"/>
            <a:ext cx="3291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We notice when a label does not add 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4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33F375-95EE-1464-6AD4-66181BA9E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538" y="0"/>
            <a:ext cx="39972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Open Sans"/>
              </a:rPr>
              <a:t>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Open Sans"/>
              </a:rPr>
              <a:t>One score, four stages of a product's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200" b="1">
                <a:solidFill>
                  <a:srgbClr val="FFE500"/>
                </a:solidFill>
                <a:latin typeface="Open Sans"/>
              </a:rPr>
              <a:t>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Manufacturing CO2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9EBDF4"/>
                </a:solidFill>
                <a:latin typeface="Open Sans"/>
              </a:rPr>
              <a:t>35% of the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219456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200" b="1">
                <a:solidFill>
                  <a:srgbClr val="FFE500"/>
                </a:solidFill>
                <a:latin typeface="Open Sans"/>
              </a:rPr>
              <a:t>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0175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Origin to NL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9EBDF4"/>
                </a:solidFill>
                <a:latin typeface="Open Sans"/>
              </a:rPr>
              <a:t>15% of the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19456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200" b="1">
                <a:solidFill>
                  <a:srgbClr val="FFE500"/>
                </a:solidFill>
                <a:latin typeface="Open Sans"/>
              </a:rPr>
              <a:t>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0175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Packaging and warehouse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9EBDF4"/>
                </a:solidFill>
                <a:latin typeface="Open Sans"/>
              </a:rPr>
              <a:t>25% of the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219456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0304" y="24231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200" b="1">
                <a:solidFill>
                  <a:srgbClr val="FFE500"/>
                </a:solidFill>
                <a:latin typeface="Open Sans"/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30175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Repairability and lifespan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9EBDF4"/>
                </a:solidFill>
                <a:latin typeface="Open Sans"/>
              </a:rPr>
              <a:t>25% of the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Open Sans"/>
              </a:rPr>
              <a:t>Each stage is ranked against products in the same category, then blended into one number from 0 to 100.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9EBDF4"/>
                </a:solidFill>
                <a:latin typeface="Open Sans"/>
              </a:rPr>
              <a:t>The weights follow the EU Product Environmental Footprint method, where climate change carries the most weight of any single category.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9EBDF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9EBDF4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1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126B47"/>
                </a:solidFill>
                <a:latin typeface="Open Sans"/>
              </a:rPr>
              <a:t>WHAT WE FOUND IN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The footprint is about making, not shipping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94560"/>
            <a:ext cx="3383280" cy="3108960"/>
          </a:xfrm>
          <a:prstGeom prst="roundRect">
            <a:avLst>
              <a:gd name="adj" fmla="val 12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423160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Open Sans"/>
              </a:rPr>
              <a:t>0.12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389120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correlation between shipping distance and CO2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7223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0000A4"/>
                </a:solidFill>
                <a:latin typeface="Open Sans"/>
              </a:rPr>
              <a:t>Before we trusted the carbon field, we tested it.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26B47"/>
                </a:solidFill>
                <a:latin typeface="Open Sans"/>
              </a:rPr>
              <a:t>Across the whole catalog, CO2 barely moves with how far a product ships (correlation 0.12), and every digital product reads zero. That is the fingerprint of a manufacturing footprint.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000A4"/>
                </a:solidFill>
                <a:latin typeface="Open Sans"/>
              </a:rPr>
              <a:t>So Make and Move measure genuinely different things, and no gram of carbon is counted twice.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B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0000A4"/>
                </a:solidFill>
                <a:latin typeface="Open Sans"/>
              </a:rPr>
              <a:t>HANDLING THE GAPS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dirty="0">
                <a:solidFill>
                  <a:srgbClr val="0000A4"/>
                </a:solidFill>
                <a:latin typeface="Open Sans"/>
              </a:rPr>
              <a:t>Half the sustainability data is missing. We say 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40280"/>
            <a:ext cx="33832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331720"/>
            <a:ext cx="1371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800" b="1">
                <a:solidFill>
                  <a:srgbClr val="0000A4"/>
                </a:solidFill>
                <a:latin typeface="Open Sans"/>
              </a:rPr>
              <a:t>52%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33172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recyclability blank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27832"/>
            <a:ext cx="33832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3319272"/>
            <a:ext cx="1371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800" b="1">
                <a:solidFill>
                  <a:srgbClr val="0000A4"/>
                </a:solidFill>
                <a:latin typeface="Open Sans"/>
              </a:rPr>
              <a:t>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3319272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lifespan blank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215384"/>
            <a:ext cx="33832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306824"/>
            <a:ext cx="1371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800" b="1">
                <a:solidFill>
                  <a:srgbClr val="0000A4"/>
                </a:solidFill>
                <a:latin typeface="Open Sans"/>
              </a:rPr>
              <a:t>26%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4306824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797E5"/>
                </a:solidFill>
                <a:latin typeface="Open Sans"/>
              </a:rPr>
              <a:t>carbon footprint blank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7223760" cy="2444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 dirty="0">
                <a:solidFill>
                  <a:srgbClr val="0000A4"/>
                </a:solidFill>
                <a:latin typeface="Open Sans"/>
              </a:rPr>
              <a:t>Rather than hide the gaps, every score carries a confidence level set by how complete its data is.</a:t>
            </a:r>
            <a:r>
              <a:rPr lang="en-IN" sz="1900" b="1" dirty="0">
                <a:solidFill>
                  <a:srgbClr val="0000A4"/>
                </a:solidFill>
                <a:latin typeface="Open San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lang="en-IN" sz="1900" b="1" dirty="0">
                <a:solidFill>
                  <a:srgbClr val="0000A4"/>
                </a:solidFill>
                <a:latin typeface="Open Sans"/>
              </a:rPr>
              <a:t>This score is not on the storefront, so no supplier is penalized directly.</a:t>
            </a:r>
            <a:endParaRPr sz="1900" b="1" dirty="0">
              <a:solidFill>
                <a:srgbClr val="0000A4"/>
              </a:solidFill>
              <a:latin typeface="Open Sans"/>
            </a:endParaRP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 dirty="0">
                <a:solidFill>
                  <a:srgbClr val="0000A4"/>
                </a:solidFill>
                <a:latin typeface="Open Sans"/>
              </a:rPr>
              <a:t>The same number doubles as a readiness check for the EU Digital Product Passport, which will soon require these exact fields.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1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126B47"/>
                </a:solidFill>
                <a:latin typeface="Open Sans"/>
              </a:rPr>
              <a:t>THE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We compare the claim to the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188720"/>
            <a:ext cx="3749039" cy="4572000"/>
          </a:xfrm>
          <a:prstGeom prst="roundRect">
            <a:avLst>
              <a:gd name="adj" fmla="val 7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83879" y="150876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19" y="1600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126B47"/>
                </a:solidFill>
                <a:latin typeface="Open Sans"/>
              </a:rPr>
              <a:t>img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98348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SCREENSHOT: a flagged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6858000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6400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Open Sans"/>
              </a:rPr>
              <a:t>Carbon neutral badge, on an item in the dirtiest quarter of its category for CO2.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6949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126B47"/>
                </a:solidFill>
                <a:latin typeface="Open Sans"/>
              </a:rPr>
              <a:t>A small rule engine looks for contradictions like that one, plus eco labels on plastic, far shipped items, and recyclable claims on barely recyclable material.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000A4"/>
                </a:solidFill>
                <a:latin typeface="Open Sans"/>
              </a:rPr>
              <a:t>When the claim and the data disagree, the badge quietly stays off. We inform the shopper, we do not shame the seller.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B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0000A4"/>
                </a:solidFill>
                <a:latin typeface="Open Sans"/>
              </a:rPr>
              <a:t>THE MYTH WE CAN BUST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Greener almost never costs more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3383280" cy="1463040"/>
          </a:xfrm>
          <a:prstGeom prst="roundRect">
            <a:avLst>
              <a:gd name="adj" fmla="val 12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194559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4800" b="1" dirty="0">
                <a:solidFill>
                  <a:srgbClr val="FFFFFF"/>
                </a:solidFill>
                <a:latin typeface="Open Sans"/>
              </a:rPr>
              <a:t>0.03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651760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price vs sustainability correlation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749039"/>
            <a:ext cx="3383280" cy="1463040"/>
          </a:xfrm>
          <a:prstGeom prst="roundRect">
            <a:avLst>
              <a:gd name="adj" fmla="val 12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3794759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4800" b="1" dirty="0">
                <a:solidFill>
                  <a:srgbClr val="FFFFFF"/>
                </a:solidFill>
                <a:latin typeface="Open Sans"/>
              </a:rPr>
              <a:t>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389120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dirty="0">
                <a:solidFill>
                  <a:srgbClr val="FFFFFF"/>
                </a:solidFill>
                <a:latin typeface="Open Sans"/>
              </a:rPr>
              <a:t>products with a cheaper greener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7223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0000A4"/>
                </a:solidFill>
                <a:latin typeface="Open Sans"/>
              </a:rPr>
              <a:t>In Bol's catalog, price and sustainability are essentially unrelated.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6797E5"/>
                </a:solidFill>
                <a:latin typeface="Open Sans"/>
              </a:rPr>
              <a:t>For 81% of products there is a greener option in the same category that also costs less. That is why our nudge leads with the saving, not with guilt.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000A4"/>
                </a:solidFill>
                <a:latin typeface="Open Sans"/>
              </a:rPr>
              <a:t>Convenience, affordability and sustainability really can sit on the same product.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1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126B47"/>
                </a:solidFill>
                <a:latin typeface="Open Sans"/>
              </a:rPr>
              <a:t>MAKE THE IMPACT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Small swaps barely register. A basket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6949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>
                <a:solidFill>
                  <a:srgbClr val="0000A4"/>
                </a:solidFill>
                <a:latin typeface="Open Sans"/>
              </a:rPr>
              <a:t>Per product the saving is tiny. Across a basket it adds up.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26B47"/>
                </a:solidFill>
                <a:latin typeface="Open Sans"/>
              </a:rPr>
              <a:t>At checkout we total the money and the CO2 saved, and translate the carbon into something you can picture: a drive to Rotterdam, a drive to Berlin, a short flight to London.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0">
                <a:solidFill>
                  <a:srgbClr val="126B47"/>
                </a:solidFill>
                <a:latin typeface="Open Sans"/>
              </a:rPr>
              <a:t>Car at 170 g per km; flights from standard per passenger figures.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D37197-C3A4-F744-522C-FD337DB9B0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9"/>
          <a:stretch>
            <a:fillRect/>
          </a:stretch>
        </p:blipFill>
        <p:spPr>
          <a:xfrm>
            <a:off x="7717536" y="1"/>
            <a:ext cx="4305744" cy="6842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9440" y="1005840"/>
            <a:ext cx="4663440" cy="4846320"/>
          </a:xfrm>
          <a:prstGeom prst="roundRect">
            <a:avLst>
              <a:gd name="adj" fmla="val 7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69479" y="132588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60919" y="141732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6797E5"/>
                </a:solidFill>
                <a:latin typeface="Open Sans"/>
              </a:rPr>
              <a:t>img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5074920"/>
            <a:ext cx="4663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LIVE: bol-com-solution.vercel.app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8640" cy="146304"/>
          </a:xfrm>
          <a:prstGeom prst="roundRect">
            <a:avLst>
              <a:gd name="adj" fmla="val 40000"/>
            </a:avLst>
          </a:prstGeom>
          <a:solidFill>
            <a:srgbClr val="FF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FFE500"/>
                </a:solidFill>
                <a:latin typeface="Open Sans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6217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Open Sans"/>
              </a:rPr>
              <a:t>Let's shop.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6126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>
                <a:solidFill>
                  <a:srgbClr val="9EBDF4"/>
                </a:solidFill>
                <a:latin typeface="Open Sans"/>
              </a:rPr>
              <a:t>Browse the shop, glance the score, open the breakdown, see a greener and cheaper pick, then watch the basket total your impact at checkout.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9EBDF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9EBDF4"/>
                </a:solidFill>
                <a:latin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868"/>
            <a:ext cx="12191695" cy="6858000"/>
          </a:xfrm>
          <a:prstGeom prst="rect">
            <a:avLst/>
          </a:prstGeom>
          <a:solidFill>
            <a:srgbClr val="9EB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0000A4"/>
                </a:solidFill>
                <a:latin typeface="Open Sans"/>
              </a:rPr>
              <a:t>COULD BOL REALLY SHIP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It fits what Bol already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188720"/>
            <a:ext cx="3749039" cy="4572000"/>
          </a:xfrm>
          <a:prstGeom prst="roundRect">
            <a:avLst>
              <a:gd name="adj" fmla="val 7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83879" y="150876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19" y="1600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126B47"/>
                </a:solidFill>
                <a:latin typeface="Open Sans"/>
              </a:rPr>
              <a:t>img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98348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PHOTO: Goede Keuze / fulfilment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04288"/>
            <a:ext cx="164592" cy="164592"/>
          </a:xfrm>
          <a:prstGeom prst="roundRect">
            <a:avLst>
              <a:gd name="adj" fmla="val 40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Aft>
                <a:spcPts val="600"/>
              </a:spcAft>
            </a:pPr>
            <a:r>
              <a:rPr sz="1500" b="0">
                <a:solidFill>
                  <a:srgbClr val="0000A4"/>
                </a:solidFill>
                <a:latin typeface="Open Sans"/>
              </a:rPr>
              <a:t>Bol already labels a million products Goede Keuze. That label is a yes or no. We make it a ranked, explainable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164592" cy="164592"/>
          </a:xfrm>
          <a:prstGeom prst="roundRect">
            <a:avLst>
              <a:gd name="adj" fmla="val 40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044952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Aft>
                <a:spcPts val="600"/>
              </a:spcAft>
            </a:pPr>
            <a:r>
              <a:rPr sz="1500" b="0">
                <a:solidFill>
                  <a:srgbClr val="0000A4"/>
                </a:solidFill>
                <a:latin typeface="Open Sans"/>
              </a:rPr>
              <a:t>We reuse Bol's own rule for it: a recognised certificate, or at least 50% recycled material.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05072"/>
            <a:ext cx="164592" cy="164592"/>
          </a:xfrm>
          <a:prstGeom prst="roundRect">
            <a:avLst>
              <a:gd name="adj" fmla="val 40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9534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Aft>
                <a:spcPts val="600"/>
              </a:spcAft>
            </a:pPr>
            <a:r>
              <a:rPr sz="1500" b="0">
                <a:solidFill>
                  <a:srgbClr val="0000A4"/>
                </a:solidFill>
                <a:latin typeface="Open Sans"/>
              </a:rPr>
              <a:t>We lean on Bol's real figures. Fit to size packing saves 28% of packaging CO2 per parcel.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55464"/>
            <a:ext cx="164592" cy="164592"/>
          </a:xfrm>
          <a:prstGeom prst="roundRect">
            <a:avLst>
              <a:gd name="adj" fmla="val 40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745736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Aft>
                <a:spcPts val="600"/>
              </a:spcAft>
            </a:pPr>
            <a:r>
              <a:rPr sz="1500" b="0">
                <a:solidFill>
                  <a:srgbClr val="0000A4"/>
                </a:solidFill>
                <a:latin typeface="Open Sans"/>
              </a:rPr>
              <a:t>Transport is only 1.5% of Bol's emissions, which is exactly why we put most of the weight on manufacturing.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0000A4"/>
                </a:solidFill>
                <a:latin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1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56032" cy="420624"/>
          </a:xfrm>
          <a:prstGeom prst="roundRect">
            <a:avLst>
              <a:gd name="adj" fmla="val 40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30352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126B47"/>
                </a:solidFill>
                <a:latin typeface="Open Sans"/>
              </a:rPr>
              <a:t>IF WE HAD ANOTHER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0000A4"/>
                </a:solidFill>
                <a:latin typeface="Open Sans"/>
              </a:rPr>
              <a:t>Score the second life, and the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188720"/>
            <a:ext cx="3749039" cy="4572000"/>
          </a:xfrm>
          <a:prstGeom prst="roundRect">
            <a:avLst>
              <a:gd name="adj" fmla="val 7000"/>
            </a:avLst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83879" y="150876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19" y="1600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126B47"/>
                </a:solidFill>
                <a:latin typeface="Open Sans"/>
              </a:rPr>
              <a:t>img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98348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ICON: refurb, repair, recycle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6949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126B47"/>
                </a:solidFill>
                <a:latin typeface="Open Sans"/>
              </a:rPr>
              <a:t>Bol already refurbishes, repairs and resells. We would feed that back into the score: is a refurbished version on offer, can this be repaired through Bol.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>
                <a:solidFill>
                  <a:srgbClr val="0000A4"/>
                </a:solidFill>
                <a:latin typeface="Open Sans"/>
              </a:rPr>
              <a:t>We would also rank products by total impact, units sold times footprint, so Bol can see where a nudge saves tonnes, not grams. Our catalog already adds up to roughly 2.9 million tonnes of embodied CO2.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126B47"/>
                </a:solidFill>
                <a:latin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548640" cy="146304"/>
          </a:xfrm>
          <a:prstGeom prst="roundRect">
            <a:avLst>
              <a:gd name="adj" fmla="val 40000"/>
            </a:avLst>
          </a:prstGeom>
          <a:solidFill>
            <a:srgbClr val="81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81D2A8"/>
                </a:solidFill>
                <a:latin typeface="Open Sans"/>
              </a:rPr>
              <a:t>WHERE WE WANT TO TAKE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60320"/>
            <a:ext cx="11155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Open Sans"/>
              </a:rPr>
              <a:t>A winkel van ons allemaal is also a shop that is honest with all of us: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3400" b="1">
                <a:solidFill>
                  <a:srgbClr val="81D2A8"/>
                </a:solidFill>
                <a:latin typeface="Open Sans"/>
              </a:rPr>
              <a:t>one glance, the real story, and the greener choice that happens to cost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81D2A8"/>
                </a:solidFill>
                <a:latin typeface="Open Sans"/>
              </a:rPr>
              <a:t>Bol Sustainability Layer  ·  HACK4HER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000" b="0">
                <a:solidFill>
                  <a:srgbClr val="81D2A8"/>
                </a:solidFill>
                <a:latin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0" y="1280160"/>
            <a:ext cx="4023360" cy="4297680"/>
          </a:xfrm>
          <a:prstGeom prst="roundRect">
            <a:avLst>
              <a:gd name="adj" fmla="val 7000"/>
            </a:avLst>
          </a:prstGeom>
          <a:solidFill>
            <a:srgbClr val="679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5600" b="1">
                <a:solidFill>
                  <a:srgbClr val="FFFFFF"/>
                </a:solidFill>
                <a:latin typeface="Open Sans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600" b="1">
                <a:solidFill>
                  <a:srgbClr val="FFE500"/>
                </a:solidFill>
                <a:latin typeface="Open Sans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9EBDF4"/>
                </a:solidFill>
                <a:latin typeface="Open Sans"/>
              </a:rPr>
              <a:t>Team [your names]  ·  bol-com-solution.vercel.app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44C37-DF0C-4A44-4765-923033CF56DA}"/>
              </a:ext>
            </a:extLst>
          </p:cNvPr>
          <p:cNvSpPr txBox="1"/>
          <p:nvPr/>
        </p:nvSpPr>
        <p:spPr>
          <a:xfrm>
            <a:off x="3048000" y="3248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1163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Vaishanavi Mehta</cp:lastModifiedBy>
  <cp:revision>2</cp:revision>
  <dcterms:created xsi:type="dcterms:W3CDTF">2013-01-27T09:14:16Z</dcterms:created>
  <dcterms:modified xsi:type="dcterms:W3CDTF">2026-06-21T14:12:48Z</dcterms:modified>
  <cp:category/>
</cp:coreProperties>
</file>